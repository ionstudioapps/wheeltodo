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89720" y="-1554480"/>
            <a:ext cx="4754880" cy="4754880"/>
          </a:xfrm>
          <a:prstGeom prst="ellipse">
            <a:avLst/>
          </a:prstGeom>
          <a:solidFill>
            <a:srgbClr val="D84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89720" y="502919"/>
            <a:ext cx="2743200" cy="2743200"/>
          </a:xfrm>
          <a:prstGeom prst="ellipse">
            <a:avLst/>
          </a:prstGeom>
          <a:solidFill>
            <a:srgbClr val="FF5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12680" y="1325879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7863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>
                <a:solidFill>
                  <a:srgbClr val="FF5C4D"/>
                </a:solidFill>
                <a:latin typeface="Arial"/>
              </a:rPr>
              <a:t>Wheel</a:t>
            </a:r>
            <a:r>
              <a:rPr sz="5800" b="1">
                <a:solidFill>
                  <a:srgbClr val="FFFFFF"/>
                </a:solidFill>
                <a:latin typeface="Arial"/>
              </a:rPr>
              <a:t>Todo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2200" b="0" i="1">
                <a:solidFill>
                  <a:srgbClr val="ECE9E3"/>
                </a:solidFill>
                <a:latin typeface="Arial"/>
              </a:rPr>
              <a:t>Spin. Focus. Done.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977639"/>
            <a:ext cx="795527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The kind to-do app that decides for you —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 i="0">
                <a:solidFill>
                  <a:srgbClr val="FF5C4D"/>
                </a:solidFill>
                <a:latin typeface="Arial"/>
              </a:rPr>
              <a:t>and lets you rest without losing your streak.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B9AFA3"/>
                </a:solidFill>
                <a:latin typeface="Arial"/>
              </a:rPr>
              <a:t>Beta-launch positioning &amp; go-to-market   ·   June 2026   ·   iOS · Android · Web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5C4D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100" b="1" i="0">
                <a:solidFill>
                  <a:srgbClr val="141210"/>
                </a:solidFill>
                <a:latin typeface="Arial"/>
              </a:rPr>
              <a:t>You're not lazy. You're frozen.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83080"/>
            <a:ext cx="61264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1" i="0">
                <a:solidFill>
                  <a:srgbClr val="141210"/>
                </a:solidFill>
                <a:latin typeface="Arial"/>
              </a:rPr>
              <a:t>Decision paralysis is the real blocker — not laziness, not time.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 i="0">
                <a:solidFill>
                  <a:srgbClr val="3A3530"/>
                </a:solidFill>
                <a:latin typeface="Arial"/>
              </a:rPr>
              <a:t>A long list doesn't get done. Staring at 23 tasks, the overwhelmed (and especially ADHD) brain can't pick a starting point — so it picks nothing.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 i="1">
                <a:solidFill>
                  <a:srgbClr val="D84235"/>
                </a:solidFill>
                <a:latin typeface="Arial"/>
              </a:rPr>
              <a:t>The hardest part of any task is choosing it. So we delete the choosing.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4206240"/>
            <a:ext cx="3246120" cy="1783080"/>
          </a:xfrm>
          <a:prstGeom prst="roundRect">
            <a:avLst>
              <a:gd name="adj" fmla="val 8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4407408"/>
            <a:ext cx="2743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F5C4D"/>
                </a:solidFill>
                <a:latin typeface="Arial"/>
              </a:rPr>
              <a:t>6B+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5285232"/>
            <a:ext cx="2743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3A3530"/>
                </a:solidFill>
                <a:latin typeface="Arial"/>
              </a:rPr>
              <a:t>views on #ADHD — TikTok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4206240"/>
            <a:ext cx="3246120" cy="1783080"/>
          </a:xfrm>
          <a:prstGeom prst="roundRect">
            <a:avLst>
              <a:gd name="adj" fmla="val 8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4407408"/>
            <a:ext cx="2743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F5C4D"/>
                </a:solidFill>
                <a:latin typeface="Arial"/>
              </a:rPr>
              <a:t>112M+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5285232"/>
            <a:ext cx="2743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3A3530"/>
                </a:solidFill>
                <a:latin typeface="Arial"/>
              </a:rPr>
              <a:t>views on #productivitytips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4206240"/>
            <a:ext cx="3246120" cy="1783080"/>
          </a:xfrm>
          <a:prstGeom prst="roundRect">
            <a:avLst>
              <a:gd name="adj" fmla="val 8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0" y="4407408"/>
            <a:ext cx="2743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F5C4D"/>
                </a:solidFill>
                <a:latin typeface="Arial"/>
              </a:rPr>
              <a:t>~81%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5285232"/>
            <a:ext cx="2743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3A3530"/>
                </a:solidFill>
                <a:latin typeface="Arial"/>
              </a:rPr>
              <a:t>completion on 0–10s clips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1783080"/>
            <a:ext cx="4736592" cy="2148840"/>
          </a:xfrm>
          <a:prstGeom prst="roundRect">
            <a:avLst>
              <a:gd name="adj" fmla="val 8000"/>
            </a:avLst>
          </a:prstGeom>
          <a:solidFill>
            <a:srgbClr val="141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2011680"/>
            <a:ext cx="4114800" cy="1783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550" b="0" i="1">
                <a:solidFill>
                  <a:srgbClr val="FFFFFF"/>
                </a:solidFill>
                <a:latin typeface="Arial"/>
              </a:rPr>
              <a:t>“Someone saying ‘this is my life’ —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550" b="0" i="1">
                <a:solidFill>
                  <a:srgbClr val="FFFFFF"/>
                </a:solidFill>
                <a:latin typeface="Arial"/>
              </a:rPr>
              <a:t>not ‘here are the symptoms’ —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50" b="1" i="1">
                <a:solidFill>
                  <a:srgbClr val="FF5C4D"/>
                </a:solidFill>
                <a:latin typeface="Arial"/>
              </a:rPr>
              <a:t>produces faster attitude change.”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B9AFA3"/>
                </a:solidFill>
                <a:latin typeface="Arial"/>
              </a:rPr>
              <a:t>First-person peer content out-performs explainers.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19088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7A7066"/>
                </a:solidFill>
                <a:latin typeface="Arial"/>
              </a:rPr>
              <a:t>#ADHD / #productivitytips: Washington Post, 2022.  Clip-completion: SocialPilot, 2026.  Peer-vs-explainer: neurolaunch.com.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5C4D"/>
                </a:solidFill>
                <a:latin typeface="Arial"/>
              </a:rPr>
              <a:t>WHO IT'S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100" b="1" i="0">
                <a:solidFill>
                  <a:srgbClr val="141210"/>
                </a:solidFill>
                <a:latin typeface="Arial"/>
              </a:rPr>
              <a:t>Built for the brains that freeze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874519"/>
            <a:ext cx="3529584" cy="3246120"/>
          </a:xfrm>
          <a:prstGeom prst="roundRect">
            <a:avLst>
              <a:gd name="adj" fmla="val 8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2185415"/>
            <a:ext cx="786384" cy="786384"/>
          </a:xfrm>
          <a:prstGeom prst="ellipse">
            <a:avLst/>
          </a:prstGeom>
          <a:solidFill>
            <a:srgbClr val="FF5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185415"/>
            <a:ext cx="78638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0" i="0">
                <a:solidFill>
                  <a:srgbClr val="FFFFFF"/>
                </a:solidFill>
                <a:latin typeface="Arial"/>
              </a:rP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3200400"/>
            <a:ext cx="29260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141210"/>
                </a:solidFill>
                <a:latin typeface="Arial"/>
              </a:rPr>
              <a:t>ADHD &amp; neurodivergent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886200"/>
            <a:ext cx="2926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0" i="0">
                <a:solidFill>
                  <a:srgbClr val="3A3530"/>
                </a:solidFill>
                <a:latin typeface="Arial"/>
              </a:rPr>
              <a:t>Task-initiation and decision paralysis are core. The true competitive neighborhood — and the most reachable audience on short-form.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74519"/>
            <a:ext cx="3529584" cy="3246120"/>
          </a:xfrm>
          <a:prstGeom prst="roundRect">
            <a:avLst>
              <a:gd name="adj" fmla="val 8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36008" y="2185415"/>
            <a:ext cx="786384" cy="786384"/>
          </a:xfrm>
          <a:prstGeom prst="ellipse">
            <a:avLst/>
          </a:prstGeom>
          <a:solidFill>
            <a:srgbClr val="FF5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2185415"/>
            <a:ext cx="78638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0" i="0">
                <a:solidFill>
                  <a:srgbClr val="FFFFFF"/>
                </a:solidFill>
                <a:latin typeface="Arial"/>
              </a:rPr>
              <a:t>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3200400"/>
            <a:ext cx="29260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141210"/>
                </a:solidFill>
                <a:latin typeface="Arial"/>
              </a:rPr>
              <a:t>The overwhelmed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3886200"/>
            <a:ext cx="2926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0" i="0">
                <a:solidFill>
                  <a:srgbClr val="3A3530"/>
                </a:solidFill>
                <a:latin typeface="Arial"/>
              </a:rPr>
              <a:t>Too much to do, so nothing gets done. Students, busy parents, anyone drowning in an endless list.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1" y="1874519"/>
            <a:ext cx="3529584" cy="3246120"/>
          </a:xfrm>
          <a:prstGeom prst="roundRect">
            <a:avLst>
              <a:gd name="adj" fmla="val 8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2185415"/>
            <a:ext cx="786384" cy="786384"/>
          </a:xfrm>
          <a:prstGeom prst="ellipse">
            <a:avLst/>
          </a:prstGeom>
          <a:solidFill>
            <a:srgbClr val="FF5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185415"/>
            <a:ext cx="78638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0" i="0">
                <a:solidFill>
                  <a:srgbClr val="FFFFFF"/>
                </a:solidFill>
                <a:latin typeface="Arial"/>
              </a:rP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7" y="3200400"/>
            <a:ext cx="29260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141210"/>
                </a:solidFill>
                <a:latin typeface="Arial"/>
              </a:rPr>
              <a:t>Focus-seekers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7" y="3886200"/>
            <a:ext cx="2926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0" i="0">
                <a:solidFill>
                  <a:srgbClr val="3A3530"/>
                </a:solidFill>
                <a:latin typeface="Arial"/>
              </a:rPr>
              <a:t>People who already love Pomodoro and ‘study-with-me’ — and want the deciding done for them.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4406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141210"/>
                </a:solidFill>
                <a:latin typeface="Arial"/>
              </a:rPr>
              <a:t>Reachable wedge: </a:t>
            </a:r>
            <a:r>
              <a:rPr sz="1400" b="0" i="0">
                <a:solidFill>
                  <a:srgbClr val="3A3530"/>
                </a:solidFill>
                <a:latin typeface="Arial"/>
              </a:rPr>
              <a:t>lead with first-person ‘this fixed my task paralysis’ content, not feature explainers.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7A7066"/>
                </a:solidFill>
                <a:latin typeface="Arial"/>
              </a:rPr>
              <a:t>Neighborhood read &amp; content guidance: competitive brief §1b, §3.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5C4D"/>
                </a:solidFill>
                <a:latin typeface="Arial"/>
              </a:rPr>
              <a:t>WHAT IT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100" b="1" i="0">
                <a:solidFill>
                  <a:srgbClr val="141210"/>
                </a:solidFill>
                <a:latin typeface="Arial"/>
              </a:rPr>
              <a:t>One tap from frozen to focused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828800"/>
            <a:ext cx="3529584" cy="1965960"/>
          </a:xfrm>
          <a:prstGeom prst="roundRect">
            <a:avLst>
              <a:gd name="adj" fmla="val 8000"/>
            </a:avLst>
          </a:prstGeom>
          <a:solidFill>
            <a:srgbClr val="141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7" y="2103120"/>
            <a:ext cx="640080" cy="640080"/>
          </a:xfrm>
          <a:prstGeom prst="ellipse">
            <a:avLst/>
          </a:prstGeom>
          <a:solidFill>
            <a:srgbClr val="FF5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852928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Arial"/>
              </a:rPr>
              <a:t>Add your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246120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B9AFA3"/>
                </a:solidFill>
                <a:latin typeface="Arial"/>
              </a:rPr>
              <a:t>Dump everything onto the wheel. No sorting, no priority math.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529584" cy="1965960"/>
          </a:xfrm>
          <a:prstGeom prst="roundRect">
            <a:avLst>
              <a:gd name="adj" fmla="val 8000"/>
            </a:avLst>
          </a:prstGeom>
          <a:solidFill>
            <a:srgbClr val="141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17720" y="2103120"/>
            <a:ext cx="640080" cy="640080"/>
          </a:xfrm>
          <a:prstGeom prst="ellipse">
            <a:avLst/>
          </a:prstGeom>
          <a:solidFill>
            <a:srgbClr val="FF5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852928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Arial"/>
              </a:rPr>
              <a:t>Spin → ONE 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246120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B9AFA3"/>
                </a:solidFill>
                <a:latin typeface="Arial"/>
              </a:rPr>
              <a:t>The wheel randomly lands on a single task. The choice is made for you.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1" y="1828800"/>
            <a:ext cx="3529584" cy="1965960"/>
          </a:xfrm>
          <a:prstGeom prst="roundRect">
            <a:avLst>
              <a:gd name="adj" fmla="val 8000"/>
            </a:avLst>
          </a:prstGeom>
          <a:solidFill>
            <a:srgbClr val="141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94192" y="2103120"/>
            <a:ext cx="640080" cy="640080"/>
          </a:xfrm>
          <a:prstGeom prst="ellipse">
            <a:avLst/>
          </a:prstGeom>
          <a:solidFill>
            <a:srgbClr val="FF5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852928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Arial"/>
              </a:rPr>
              <a:t>Auto-Pomodoro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3246120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B9AFA3"/>
                </a:solidFill>
                <a:latin typeface="Arial"/>
              </a:rPr>
              <a:t>It drops you straight into a focus timer. You're already doing 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160520"/>
            <a:ext cx="2688336" cy="1600200"/>
          </a:xfrm>
          <a:prstGeom prst="roundRect">
            <a:avLst>
              <a:gd name="adj" fmla="val 8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3982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41210"/>
                </a:solidFill>
                <a:latin typeface="Arial"/>
              </a:rPr>
              <a:t>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001768"/>
            <a:ext cx="2231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141210"/>
                </a:solidFill>
                <a:latin typeface="Arial"/>
              </a:rPr>
              <a:t>Rest 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404104"/>
            <a:ext cx="22311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3A3530"/>
                </a:solidFill>
                <a:latin typeface="Arial"/>
              </a:rPr>
              <a:t>rest protects your streak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56432" y="4160520"/>
            <a:ext cx="2688336" cy="1600200"/>
          </a:xfrm>
          <a:prstGeom prst="roundRect">
            <a:avLst>
              <a:gd name="adj" fmla="val 8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12464" y="43982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41210"/>
                </a:solidFill>
                <a:latin typeface="Arial"/>
              </a:rPr>
              <a:t>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12464" y="5001768"/>
            <a:ext cx="2231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141210"/>
                </a:solidFill>
                <a:latin typeface="Arial"/>
              </a:rPr>
              <a:t>Streaks + 6 achievements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12464" y="5404104"/>
            <a:ext cx="22311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3A3530"/>
                </a:solidFill>
                <a:latin typeface="Arial"/>
              </a:rPr>
              <a:t>momentum that sticks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45936" y="4160520"/>
            <a:ext cx="2688336" cy="1600200"/>
          </a:xfrm>
          <a:prstGeom prst="roundRect">
            <a:avLst>
              <a:gd name="adj" fmla="val 8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43982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41210"/>
                </a:solidFill>
                <a:latin typeface="Arial"/>
              </a:rPr>
              <a:t>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5001768"/>
            <a:ext cx="2231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141210"/>
                </a:solidFill>
                <a:latin typeface="Arial"/>
              </a:rPr>
              <a:t>4 accessible themes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1968" y="5404104"/>
            <a:ext cx="22311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3A3530"/>
                </a:solidFill>
                <a:latin typeface="Arial"/>
              </a:rPr>
              <a:t>light · dark · high-contrast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4160520"/>
            <a:ext cx="2688336" cy="1600200"/>
          </a:xfrm>
          <a:prstGeom prst="roundRect">
            <a:avLst>
              <a:gd name="adj" fmla="val 8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91472" y="43982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41210"/>
                </a:solidFill>
                <a:latin typeface="Arial"/>
              </a:rPr>
              <a:t>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91472" y="5001768"/>
            <a:ext cx="2231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141210"/>
                </a:solidFill>
                <a:latin typeface="Arial"/>
              </a:rPr>
              <a:t>Offline-first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91472" y="5404104"/>
            <a:ext cx="22311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3A3530"/>
                </a:solidFill>
                <a:latin typeface="Arial"/>
              </a:rPr>
              <a:t>no account required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419088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7A7066"/>
                </a:solidFill>
                <a:latin typeface="Arial"/>
              </a:rPr>
              <a:t>Feature set per docs/FEATURES.md (shipped build).  Body-double companion is roadmap — see final slide.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4754880"/>
            <a:ext cx="4206240" cy="4206240"/>
          </a:xfrm>
          <a:prstGeom prst="ellipse">
            <a:avLst/>
          </a:prstGeom>
          <a:solidFill>
            <a:srgbClr val="D84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59" y="4023360"/>
            <a:ext cx="2377440" cy="2377440"/>
          </a:xfrm>
          <a:prstGeom prst="ellipse">
            <a:avLst/>
          </a:prstGeom>
          <a:solidFill>
            <a:srgbClr val="FF5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22992" y="4736592"/>
            <a:ext cx="950976" cy="9509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5C4D"/>
                </a:solidFill>
                <a:latin typeface="Arial"/>
              </a:rPr>
              <a:t>THE WEDGE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424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0" b="1" i="0">
                <a:solidFill>
                  <a:srgbClr val="FFFFFF"/>
                </a:solidFill>
                <a:latin typeface="Arial"/>
              </a:rPr>
              <a:t>Rest protects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0" b="1" i="0">
                <a:solidFill>
                  <a:srgbClr val="FF5C4D"/>
                </a:solidFill>
                <a:latin typeface="Arial"/>
              </a:rPr>
              <a:t>your streak.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069080"/>
            <a:ext cx="8869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0" i="0">
                <a:solidFill>
                  <a:srgbClr val="ECE9E3"/>
                </a:solidFill>
                <a:latin typeface="Arial"/>
              </a:rPr>
              <a:t>Every other app treats rest as an </a:t>
            </a:r>
            <a:r>
              <a:rPr sz="1800" b="1" i="0">
                <a:solidFill>
                  <a:srgbClr val="FFFFFF"/>
                </a:solidFill>
                <a:latin typeface="Arial"/>
              </a:rPr>
              <a:t>exemption</a:t>
            </a:r>
            <a:r>
              <a:rPr sz="1800" b="0" i="0">
                <a:solidFill>
                  <a:srgbClr val="ECE9E3"/>
                </a:solidFill>
                <a:latin typeface="Arial"/>
              </a:rPr>
              <a:t> — streak shields, vacation mode, ‘your streak pauses instead of resetting.’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 i="0">
                <a:solidFill>
                  <a:srgbClr val="ECE9E3"/>
                </a:solidFill>
                <a:latin typeface="Arial"/>
              </a:rPr>
              <a:t>WheelTodo is the only one where resting is a </a:t>
            </a:r>
            <a:r>
              <a:rPr sz="1800" b="1" i="0">
                <a:solidFill>
                  <a:srgbClr val="FF5C4D"/>
                </a:solidFill>
                <a:latin typeface="Arial"/>
              </a:rPr>
              <a:t>positive move that keeps your streak alive.</a:t>
            </a:r>
            <a:r>
              <a:rPr sz="1800" b="0" i="0">
                <a:solidFill>
                  <a:srgbClr val="ECE9E3"/>
                </a:solidFill>
                <a:latin typeface="Arial"/>
              </a:rPr>
              <a:t> Rest Mode + the Drained / Okay / Restless check-in invert the category default.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B9AFA3"/>
                </a:solidFill>
                <a:latin typeface="Arial"/>
              </a:rPr>
              <a:t>Streak-as-damage-control framing: HabitStreak, Habi, Streaks (2026).  This position is currently unoccupied — competitive brief §2.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5C4D"/>
                </a:solidFill>
                <a:latin typeface="Arial"/>
              </a:rPr>
              <a:t>WHO WE DEFINE AGAINST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100" b="1" i="0">
                <a:solidFill>
                  <a:srgbClr val="141210"/>
                </a:solidFill>
                <a:latin typeface="Arial"/>
              </a:rPr>
              <a:t>Three foils, three weaknesses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828800"/>
            <a:ext cx="3529584" cy="3977639"/>
          </a:xfrm>
          <a:prstGeom prst="roundRect">
            <a:avLst>
              <a:gd name="adj" fmla="val 8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" y="2157984"/>
            <a:ext cx="310896" cy="310896"/>
          </a:xfrm>
          <a:prstGeom prst="ellipse">
            <a:avLst/>
          </a:prstGeom>
          <a:solidFill>
            <a:srgbClr val="FF5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35024" y="2121408"/>
            <a:ext cx="25237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700" b="1" i="0">
                <a:solidFill>
                  <a:srgbClr val="141210"/>
                </a:solidFill>
                <a:latin typeface="Arial"/>
              </a:rPr>
              <a:t>Habitica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743200"/>
            <a:ext cx="2926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1">
                <a:solidFill>
                  <a:srgbClr val="FF5C4D"/>
                </a:solidFill>
                <a:latin typeface="Arial"/>
              </a:rPr>
              <a:t>the punishment foil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246120"/>
            <a:ext cx="2926079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300" b="0" i="0">
                <a:solidFill>
                  <a:srgbClr val="3A3530"/>
                </a:solidFill>
                <a:latin typeface="Arial"/>
              </a:rPr>
              <a:t>Fail a daily and your avatar takes damage — critics say it ‘creates anxiety instead of motivation.’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" y="4983480"/>
            <a:ext cx="2907791" cy="658368"/>
          </a:xfrm>
          <a:prstGeom prst="roundRect">
            <a:avLst>
              <a:gd name="adj" fmla="val 8000"/>
            </a:avLst>
          </a:prstGeom>
          <a:solidFill>
            <a:srgbClr val="141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5047488"/>
            <a:ext cx="26151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1">
                <a:solidFill>
                  <a:srgbClr val="FFFFFF"/>
                </a:solidFill>
                <a:latin typeface="Arial"/>
              </a:rPr>
              <a:t>“Your avatar doesn't die when you rest.”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3529584" cy="3977639"/>
          </a:xfrm>
          <a:prstGeom prst="roundRect">
            <a:avLst>
              <a:gd name="adj" fmla="val 8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54296" y="2157984"/>
            <a:ext cx="310896" cy="310896"/>
          </a:xfrm>
          <a:prstGeom prst="ellipse">
            <a:avLst/>
          </a:prstGeom>
          <a:solidFill>
            <a:srgbClr val="2BB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11496" y="2121408"/>
            <a:ext cx="25237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700" b="1" i="0">
                <a:solidFill>
                  <a:srgbClr val="141210"/>
                </a:solidFill>
                <a:latin typeface="Arial"/>
              </a:rPr>
              <a:t>Finch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743200"/>
            <a:ext cx="2926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1">
                <a:solidFill>
                  <a:srgbClr val="2BB6A3"/>
                </a:solidFill>
                <a:latin typeface="Arial"/>
              </a:rPr>
              <a:t>the gentle benchmark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3246120"/>
            <a:ext cx="2926079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300" b="0" i="0">
                <a:solidFill>
                  <a:srgbClr val="3A3530"/>
                </a:solidFill>
                <a:latin typeface="Arial"/>
              </a:rPr>
              <a:t>~$30M ARR proving gentle works — but it's a self-care companion with no task-execution engine, no decision mechanic.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54296" y="4983480"/>
            <a:ext cx="2907791" cy="658368"/>
          </a:xfrm>
          <a:prstGeom prst="roundRect">
            <a:avLst>
              <a:gd name="adj" fmla="val 8000"/>
            </a:avLst>
          </a:prstGeom>
          <a:solidFill>
            <a:srgbClr val="141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5047488"/>
            <a:ext cx="26151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1">
                <a:solidFill>
                  <a:srgbClr val="FFFFFF"/>
                </a:solidFill>
                <a:latin typeface="Arial"/>
              </a:rPr>
              <a:t>We add: actually start the task.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1" y="1828800"/>
            <a:ext cx="3529584" cy="3977639"/>
          </a:xfrm>
          <a:prstGeom prst="roundRect">
            <a:avLst>
              <a:gd name="adj" fmla="val 8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30767" y="2157984"/>
            <a:ext cx="310896" cy="310896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87967" y="2121408"/>
            <a:ext cx="25237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700" b="1" i="0">
                <a:solidFill>
                  <a:srgbClr val="141210"/>
                </a:solidFill>
                <a:latin typeface="Arial"/>
              </a:rPr>
              <a:t>Llama Life · Tiimo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7" y="2743200"/>
            <a:ext cx="2926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1">
                <a:solidFill>
                  <a:srgbClr val="6B4EC2"/>
                </a:solidFill>
                <a:latin typeface="Arial"/>
              </a:rPr>
              <a:t>the tonal cousins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7" y="3246120"/>
            <a:ext cx="2926079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300" b="0" i="0">
                <a:solidFill>
                  <a:srgbClr val="3A3530"/>
                </a:solidFill>
                <a:latin typeface="Arial"/>
              </a:rPr>
              <a:t>Gentle and per-task-timed and genuinely good — but both still require you to decide what to start.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30767" y="4983480"/>
            <a:ext cx="2907791" cy="658368"/>
          </a:xfrm>
          <a:prstGeom prst="roundRect">
            <a:avLst>
              <a:gd name="adj" fmla="val 8000"/>
            </a:avLst>
          </a:prstGeom>
          <a:solidFill>
            <a:srgbClr val="141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77072" y="5047488"/>
            <a:ext cx="26151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1">
                <a:solidFill>
                  <a:srgbClr val="FFFFFF"/>
                </a:solidFill>
                <a:latin typeface="Arial"/>
              </a:rPr>
              <a:t>We remove the choice.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19088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7A7066"/>
                </a:solidFill>
                <a:latin typeface="Arial"/>
              </a:rPr>
              <a:t>Habitica critique: calmevo.com, 2026.  Finch ARR: blog.sparrowapps.io, 2025.  Full landscape: competitive brief §1.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5C4D"/>
                </a:solidFill>
                <a:latin typeface="Arial"/>
              </a:rPr>
              <a:t>WHERE WE 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100" b="1" i="0">
                <a:solidFill>
                  <a:srgbClr val="141210"/>
                </a:solidFill>
                <a:latin typeface="Arial"/>
              </a:rPr>
              <a:t>Two open lanes — and one honest caveat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828800"/>
            <a:ext cx="5349240" cy="2286000"/>
          </a:xfrm>
          <a:prstGeom prst="roundRect">
            <a:avLst>
              <a:gd name="adj" fmla="val 8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048256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50" b="1" i="0">
                <a:solidFill>
                  <a:srgbClr val="141210"/>
                </a:solidFill>
                <a:latin typeface="Arial"/>
              </a:rPr>
              <a:t>1 · ‘Rest protects your streak’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300" b="0" i="0">
                <a:solidFill>
                  <a:srgbClr val="3A3530"/>
                </a:solidFill>
                <a:latin typeface="Arial"/>
              </a:rPr>
              <a:t>Unoccupied. Streak-preservation always ships as damage control — never as a positive action you take. Ours is the inversion.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08192" y="1828800"/>
            <a:ext cx="5532120" cy="2286000"/>
          </a:xfrm>
          <a:prstGeom prst="roundRect">
            <a:avLst>
              <a:gd name="adj" fmla="val 8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2048256"/>
            <a:ext cx="50292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50" b="1" i="0">
                <a:solidFill>
                  <a:srgbClr val="141210"/>
                </a:solidFill>
                <a:latin typeface="Arial"/>
              </a:rPr>
              <a:t>2 · ‘Decision paralysis’ as a brand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300" b="0" i="0">
                <a:solidFill>
                  <a:srgbClr val="3A3530"/>
                </a:solidFill>
                <a:latin typeface="Arial"/>
              </a:rPr>
              <a:t>The phrase lives in competitors' copy but almost no app is named or branded around it. High intent, low competition — ownable.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343400"/>
            <a:ext cx="11073384" cy="1783080"/>
          </a:xfrm>
          <a:prstGeom prst="roundRect">
            <a:avLst>
              <a:gd name="adj" fmla="val 8000"/>
            </a:avLst>
          </a:prstGeom>
          <a:solidFill>
            <a:srgbClr val="141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4617720"/>
            <a:ext cx="566928" cy="566928"/>
          </a:xfrm>
          <a:prstGeom prst="ellipse">
            <a:avLst/>
          </a:prstGeom>
          <a:solidFill>
            <a:srgbClr val="FF5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4553712"/>
            <a:ext cx="95097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50" b="1" i="0">
                <a:solidFill>
                  <a:srgbClr val="FF5C4D"/>
                </a:solidFill>
                <a:latin typeface="Arial"/>
              </a:rPr>
              <a:t>The wheel is NOT novel — don't claim invention.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300" b="0" i="0">
                <a:solidFill>
                  <a:srgbClr val="ECE9E3"/>
                </a:solidFill>
                <a:latin typeface="Arial"/>
              </a:rPr>
              <a:t>Decision wheels are a saturated novelty category; two apps are literally named ‘Task Roulette.’ We own the </a:t>
            </a:r>
            <a:r>
              <a:rPr sz="1300" b="1" i="0">
                <a:solidFill>
                  <a:srgbClr val="FFFFFF"/>
                </a:solidFill>
                <a:latin typeface="Arial"/>
              </a:rPr>
              <a:t>integration</a:t>
            </a:r>
            <a:r>
              <a:rPr sz="1300" b="0" i="0">
                <a:solidFill>
                  <a:srgbClr val="ECE9E3"/>
                </a:solidFill>
                <a:latin typeface="Arial"/>
              </a:rPr>
              <a:t> — wheel → one task → auto-Pomodoro → Rest Mode — and the gentleness. Never the spinner itself.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7A7066"/>
                </a:solidFill>
                <a:latin typeface="Arial"/>
              </a:rPr>
              <a:t>‘Task Roulette’ apps: Google Play / monday.com, 2024.  Under-branding of ‘decision paralysis’: morgen.so, 2026.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5C4D"/>
                </a:solidFill>
                <a:latin typeface="Arial"/>
              </a:rPr>
              <a:t>POSITIONING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100" b="1" i="0">
                <a:solidFill>
                  <a:srgbClr val="141210"/>
                </a:solidFill>
                <a:latin typeface="Arial"/>
              </a:rPr>
              <a:t>How we say it, in one breath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874519"/>
            <a:ext cx="11073384" cy="297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40280"/>
            <a:ext cx="996696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2000" b="0" i="0">
                <a:solidFill>
                  <a:srgbClr val="3A3530"/>
                </a:solidFill>
                <a:latin typeface="Arial"/>
              </a:rPr>
              <a:t>For </a:t>
            </a:r>
            <a:r>
              <a:rPr sz="2000" b="1" i="0">
                <a:solidFill>
                  <a:srgbClr val="141210"/>
                </a:solidFill>
                <a:latin typeface="Arial"/>
              </a:rPr>
              <a:t>overwhelmed and ADHD brains who freeze at their to-do list</a:t>
            </a:r>
            <a:r>
              <a:rPr sz="2000" b="0" i="0">
                <a:solidFill>
                  <a:srgbClr val="3A3530"/>
                </a:solidFill>
                <a:latin typeface="Arial"/>
              </a:rPr>
              <a:t>, WheelTodo is the </a:t>
            </a:r>
            <a:r>
              <a:rPr sz="2000" b="1" i="0">
                <a:solidFill>
                  <a:srgbClr val="D84235"/>
                </a:solidFill>
                <a:latin typeface="Arial"/>
              </a:rPr>
              <a:t>kind productivity app</a:t>
            </a:r>
            <a:r>
              <a:rPr sz="2000" b="0" i="0">
                <a:solidFill>
                  <a:srgbClr val="3A3530"/>
                </a:solidFill>
                <a:latin typeface="Arial"/>
              </a:rPr>
              <a:t> that </a:t>
            </a:r>
            <a:r>
              <a:rPr sz="2000" b="1" i="0">
                <a:solidFill>
                  <a:srgbClr val="141210"/>
                </a:solidFill>
                <a:latin typeface="Arial"/>
              </a:rPr>
              <a:t>spins to pick one task and starts the timer for you</a:t>
            </a:r>
            <a:r>
              <a:rPr sz="2000" b="0" i="0">
                <a:solidFill>
                  <a:srgbClr val="3A3530"/>
                </a:solidFill>
                <a:latin typeface="Arial"/>
              </a:rPr>
              <a:t> — and </a:t>
            </a:r>
            <a:r>
              <a:rPr sz="2000" b="1" i="0">
                <a:solidFill>
                  <a:srgbClr val="D84235"/>
                </a:solidFill>
                <a:latin typeface="Arial"/>
              </a:rPr>
              <a:t>counts your rest</a:t>
            </a:r>
            <a:r>
              <a:rPr sz="2000" b="0" i="0">
                <a:solidFill>
                  <a:srgbClr val="3A3530"/>
                </a:solidFill>
                <a:latin typeface="Arial"/>
              </a:rPr>
              <a:t>.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600" b="0" i="1">
                <a:solidFill>
                  <a:srgbClr val="3A3530"/>
                </a:solidFill>
                <a:latin typeface="Arial"/>
              </a:rPr>
              <a:t>Unlike Habitica, which punishes you for slipping — or planners that still make you choose.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7492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D84235"/>
                </a:solidFill>
                <a:latin typeface="Arial"/>
              </a:rPr>
              <a:t>Category   </a:t>
            </a:r>
            <a:r>
              <a:rPr sz="1300" b="0" i="0">
                <a:solidFill>
                  <a:srgbClr val="141210"/>
                </a:solidFill>
                <a:latin typeface="Arial"/>
              </a:rPr>
              <a:t>the to-do app that decides for you        </a:t>
            </a:r>
            <a:r>
              <a:rPr sz="1250" b="1" i="0">
                <a:solidFill>
                  <a:srgbClr val="D84235"/>
                </a:solidFill>
                <a:latin typeface="Arial"/>
              </a:rPr>
              <a:t>Heart   </a:t>
            </a:r>
            <a:r>
              <a:rPr sz="1300" b="0" i="0">
                <a:solidFill>
                  <a:srgbClr val="141210"/>
                </a:solidFill>
                <a:latin typeface="Arial"/>
              </a:rPr>
              <a:t>rest counts too        </a:t>
            </a:r>
            <a:r>
              <a:rPr sz="1250" b="1" i="0">
                <a:solidFill>
                  <a:srgbClr val="D84235"/>
                </a:solidFill>
                <a:latin typeface="Arial"/>
              </a:rPr>
              <a:t>Proof   </a:t>
            </a:r>
            <a:r>
              <a:rPr sz="1300" b="0" i="0">
                <a:solidFill>
                  <a:srgbClr val="141210"/>
                </a:solidFill>
                <a:latin typeface="Arial"/>
              </a:rPr>
              <a:t>from 23-tasks-frozen to actually done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5C4D"/>
                </a:solidFill>
                <a:latin typeface="Arial"/>
              </a:rPr>
              <a:t>MESSAGING · THE HOOKS THAT SELL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100" b="1" i="0">
                <a:solidFill>
                  <a:srgbClr val="141210"/>
                </a:solidFill>
                <a:latin typeface="Arial"/>
              </a:rPr>
              <a:t>Three hooks, ready to shoot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444752"/>
            <a:ext cx="121916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408176"/>
            <a:ext cx="2103120" cy="32918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D84235"/>
                </a:solidFill>
                <a:latin typeface="Arial"/>
              </a:rPr>
              <a:t>HOOK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408176"/>
            <a:ext cx="3291840" cy="32918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D84235"/>
                </a:solidFill>
                <a:latin typeface="Arial"/>
              </a:rPr>
              <a:t>VISUAL (0–1S)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408176"/>
            <a:ext cx="2834640" cy="32918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D84235"/>
                </a:solidFill>
                <a:latin typeface="Arial"/>
              </a:rPr>
              <a:t>VERBAL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1408176"/>
            <a:ext cx="2587752" cy="329184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D84235"/>
                </a:solidFill>
                <a:latin typeface="Arial"/>
              </a:rPr>
              <a:t>TEXT OVERLAY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28800"/>
            <a:ext cx="11073384" cy="1371600"/>
          </a:xfrm>
          <a:prstGeom prst="roundRect">
            <a:avLst>
              <a:gd name="adj" fmla="val 8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975104"/>
            <a:ext cx="19202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00" b="1" i="0">
                <a:solidFill>
                  <a:srgbClr val="141210"/>
                </a:solidFill>
                <a:latin typeface="Arial"/>
              </a:rPr>
              <a:t>Rest counts too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975104"/>
            <a:ext cx="32004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3A3530"/>
                </a:solidFill>
                <a:latin typeface="Arial"/>
              </a:rPr>
              <a:t>Collapse onto the couch, wrecked — phone shows the streak flame staying lit.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975104"/>
            <a:ext cx="27889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1" i="1">
                <a:solidFill>
                  <a:srgbClr val="D84235"/>
                </a:solidFill>
                <a:latin typeface="Arial"/>
              </a:rPr>
              <a:t>“I took a nap and my to-do app… congratulated me.”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975104"/>
            <a:ext cx="25146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141210"/>
                </a:solidFill>
                <a:latin typeface="Arial"/>
              </a:rPr>
              <a:t>the productivity app that rewards you for resting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346704"/>
            <a:ext cx="11073384" cy="1371600"/>
          </a:xfrm>
          <a:prstGeom prst="roundRect">
            <a:avLst>
              <a:gd name="adj" fmla="val 8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493008"/>
            <a:ext cx="19202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00" b="1" i="0">
                <a:solidFill>
                  <a:srgbClr val="141210"/>
                </a:solidFill>
                <a:latin typeface="Arial"/>
              </a:rPr>
              <a:t>Spin → already doing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493008"/>
            <a:ext cx="32004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3A3530"/>
                </a:solidFill>
                <a:latin typeface="Arial"/>
              </a:rPr>
              <a:t>Wheel mid-spin lands on one task → screen instantly flips to a running timer.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493008"/>
            <a:ext cx="27889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1" i="1">
                <a:solidFill>
                  <a:srgbClr val="D84235"/>
                </a:solidFill>
                <a:latin typeface="Arial"/>
              </a:rPr>
              <a:t>“Stop choosing. Spin — the timer's already counting.”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3493008"/>
            <a:ext cx="25146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141210"/>
                </a:solidFill>
                <a:latin typeface="Arial"/>
              </a:rPr>
              <a:t>23 tasks. one spin. now you're already doing 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864608"/>
            <a:ext cx="11073384" cy="1371600"/>
          </a:xfrm>
          <a:prstGeom prst="roundRect">
            <a:avLst>
              <a:gd name="adj" fmla="val 8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5010912"/>
            <a:ext cx="19202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00" b="1" i="0">
                <a:solidFill>
                  <a:srgbClr val="141210"/>
                </a:solidFill>
                <a:latin typeface="Arial"/>
              </a:rPr>
              <a:t>It checks on you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010912"/>
            <a:ext cx="32004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3A3530"/>
                </a:solidFill>
                <a:latin typeface="Arial"/>
              </a:rPr>
              <a:t>App asks ‘How's your energy?’ → tap Drained → it suggests gentle wins.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5010912"/>
            <a:ext cx="27889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1" i="1">
                <a:solidFill>
                  <a:srgbClr val="D84235"/>
                </a:solidFill>
                <a:latin typeface="Arial"/>
              </a:rPr>
              <a:t>“It asks how I feel before it asks what I'll do.”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5010912"/>
            <a:ext cx="25146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141210"/>
                </a:solidFill>
                <a:latin typeface="Arial"/>
              </a:rPr>
              <a:t>a to-do app that checks on you first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19088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7A7066"/>
                </a:solidFill>
                <a:latin typeface="Arial"/>
              </a:rPr>
              <a:t>Hooks map to the 30-day calendar (Hook Bank tab).  Caption every reel — most watch muted.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5C4D"/>
                </a:solidFill>
                <a:latin typeface="Arial"/>
              </a:rPr>
              <a:t>GO-TO-MARKET · THE SHORT-FORM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100" b="1" i="0">
                <a:solidFill>
                  <a:srgbClr val="141210"/>
                </a:solidFill>
                <a:latin typeface="Arial"/>
              </a:rPr>
              <a:t>Short-form first, paid-aware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828800"/>
            <a:ext cx="5486400" cy="4160520"/>
          </a:xfrm>
          <a:prstGeom prst="roundRect">
            <a:avLst>
              <a:gd name="adj" fmla="val 8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048256"/>
            <a:ext cx="502920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50" b="1" i="0">
                <a:solidFill>
                  <a:srgbClr val="141210"/>
                </a:solidFill>
                <a:latin typeface="Arial"/>
              </a:rPr>
              <a:t>6 content pillars (over 30 days)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FF5C4D"/>
                </a:solidFill>
                <a:latin typeface="Arial"/>
              </a:rPr>
              <a:t>•  </a:t>
            </a:r>
            <a:r>
              <a:rPr sz="1300" b="0" i="0">
                <a:solidFill>
                  <a:srgbClr val="141210"/>
                </a:solidFill>
                <a:latin typeface="Arial"/>
              </a:rPr>
              <a:t>Relatable pain</a:t>
            </a:r>
            <a:r>
              <a:rPr sz="1200" b="0" i="0">
                <a:solidFill>
                  <a:srgbClr val="7A7066"/>
                </a:solidFill>
                <a:latin typeface="Arial"/>
              </a:rPr>
              <a:t>   —  3 posts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FF5C4D"/>
                </a:solidFill>
                <a:latin typeface="Arial"/>
              </a:rPr>
              <a:t>•  </a:t>
            </a:r>
            <a:r>
              <a:rPr sz="1300" b="0" i="0">
                <a:solidFill>
                  <a:srgbClr val="141210"/>
                </a:solidFill>
                <a:latin typeface="Arial"/>
              </a:rPr>
              <a:t>Differentiator: kind + rest</a:t>
            </a:r>
            <a:r>
              <a:rPr sz="1200" b="0" i="0">
                <a:solidFill>
                  <a:srgbClr val="7A7066"/>
                </a:solidFill>
                <a:latin typeface="Arial"/>
              </a:rPr>
              <a:t>   —  4 posts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FF5C4D"/>
                </a:solidFill>
                <a:latin typeface="Arial"/>
              </a:rPr>
              <a:t>•  </a:t>
            </a:r>
            <a:r>
              <a:rPr sz="1300" b="0" i="0">
                <a:solidFill>
                  <a:srgbClr val="141210"/>
                </a:solidFill>
                <a:latin typeface="Arial"/>
              </a:rPr>
              <a:t>Oddly satisfying</a:t>
            </a:r>
            <a:r>
              <a:rPr sz="1200" b="0" i="0">
                <a:solidFill>
                  <a:srgbClr val="7A7066"/>
                </a:solidFill>
                <a:latin typeface="Arial"/>
              </a:rPr>
              <a:t>   —  4 posts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FF5C4D"/>
                </a:solidFill>
                <a:latin typeface="Arial"/>
              </a:rPr>
              <a:t>•  </a:t>
            </a:r>
            <a:r>
              <a:rPr sz="1300" b="0" i="0">
                <a:solidFill>
                  <a:srgbClr val="141210"/>
                </a:solidFill>
                <a:latin typeface="Arial"/>
              </a:rPr>
              <a:t>Niche use-cases</a:t>
            </a:r>
            <a:r>
              <a:rPr sz="1200" b="0" i="0">
                <a:solidFill>
                  <a:srgbClr val="7A7066"/>
                </a:solidFill>
                <a:latin typeface="Arial"/>
              </a:rPr>
              <a:t>   —  6 posts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FF5C4D"/>
                </a:solidFill>
                <a:latin typeface="Arial"/>
              </a:rPr>
              <a:t>•  </a:t>
            </a:r>
            <a:r>
              <a:rPr sz="1300" b="0" i="0">
                <a:solidFill>
                  <a:srgbClr val="141210"/>
                </a:solidFill>
                <a:latin typeface="Arial"/>
              </a:rPr>
              <a:t>Trend-jack</a:t>
            </a:r>
            <a:r>
              <a:rPr sz="1200" b="0" i="0">
                <a:solidFill>
                  <a:srgbClr val="7A7066"/>
                </a:solidFill>
                <a:latin typeface="Arial"/>
              </a:rPr>
              <a:t>   —  3 posts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FF5C4D"/>
                </a:solidFill>
                <a:latin typeface="Arial"/>
              </a:rPr>
              <a:t>•  </a:t>
            </a:r>
            <a:r>
              <a:rPr sz="1300" b="0" i="0">
                <a:solidFill>
                  <a:srgbClr val="141210"/>
                </a:solidFill>
                <a:latin typeface="Arial"/>
              </a:rPr>
              <a:t>Proof &amp; momentum</a:t>
            </a:r>
            <a:r>
              <a:rPr sz="1200" b="0" i="0">
                <a:solidFill>
                  <a:srgbClr val="7A7066"/>
                </a:solidFill>
                <a:latin typeface="Arial"/>
              </a:rPr>
              <a:t>   —  6 posts</a:t>
            </a:r>
          </a:p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1">
                <a:solidFill>
                  <a:srgbClr val="7A7066"/>
                </a:solidFill>
                <a:latin typeface="Arial"/>
              </a:rPr>
              <a:t>+ 4 on-brand rest days (story only). Full plan in the 30-day calendar.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828800"/>
            <a:ext cx="5440680" cy="4160520"/>
          </a:xfrm>
          <a:prstGeom prst="roundRect">
            <a:avLst>
              <a:gd name="adj" fmla="val 8000"/>
            </a:avLst>
          </a:prstGeom>
          <a:solidFill>
            <a:srgbClr val="141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2048256"/>
            <a:ext cx="493776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50" b="1" i="0">
                <a:solidFill>
                  <a:srgbClr val="FFFFFF"/>
                </a:solidFill>
                <a:latin typeface="Arial"/>
              </a:rPr>
              <a:t>3 reel formats with proven fit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FF5C4D"/>
                </a:solidFill>
                <a:latin typeface="Arial"/>
              </a:rPr>
              <a:t>1  </a:t>
            </a:r>
            <a:r>
              <a:rPr sz="1350" b="1" i="0">
                <a:solidFill>
                  <a:srgbClr val="FFFFFF"/>
                </a:solidFill>
                <a:latin typeface="Arial"/>
              </a:rPr>
              <a:t>Satisfying spin-loop demo</a:t>
            </a:r>
          </a:p>
          <a:p>
            <a:pPr algn="l">
              <a:lnSpc>
                <a:spcPct val="116000"/>
              </a:lnSpc>
              <a:spcAft>
                <a:spcPts val="700"/>
              </a:spcAft>
            </a:pPr>
            <a:r>
              <a:rPr sz="1200" b="0" i="0">
                <a:solidFill>
                  <a:srgbClr val="B9AFA3"/>
                </a:solidFill>
                <a:latin typeface="Arial"/>
              </a:rPr>
              <a:t>     spin → one task → timer-start. Screen-native, loopable, &lt;10s.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FF5C4D"/>
                </a:solidFill>
                <a:latin typeface="Arial"/>
              </a:rPr>
              <a:t>2  </a:t>
            </a:r>
            <a:r>
              <a:rPr sz="1350" b="1" i="0">
                <a:solidFill>
                  <a:srgbClr val="FFFFFF"/>
                </a:solidFill>
                <a:latin typeface="Arial"/>
              </a:rPr>
              <a:t>First-person ‘this fixed my task paralysis’</a:t>
            </a:r>
          </a:p>
          <a:p>
            <a:pPr algn="l">
              <a:lnSpc>
                <a:spcPct val="116000"/>
              </a:lnSpc>
              <a:spcAft>
                <a:spcPts val="700"/>
              </a:spcAft>
            </a:pPr>
            <a:r>
              <a:rPr sz="1200" b="0" i="0">
                <a:solidFill>
                  <a:srgbClr val="B9AFA3"/>
                </a:solidFill>
                <a:latin typeface="Arial"/>
              </a:rPr>
              <a:t>     peer POV beats explainers for this audience.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FF5C4D"/>
                </a:solidFill>
                <a:latin typeface="Arial"/>
              </a:rPr>
              <a:t>3  </a:t>
            </a:r>
            <a:r>
              <a:rPr sz="1350" b="1" i="0">
                <a:solidFill>
                  <a:srgbClr val="FFFFFF"/>
                </a:solidFill>
                <a:latin typeface="Arial"/>
              </a:rPr>
              <a:t>‘Apps that fixed my ADHD’ listicle</a:t>
            </a:r>
          </a:p>
          <a:p>
            <a:pPr algn="l">
              <a:lnSpc>
                <a:spcPct val="116000"/>
              </a:lnSpc>
              <a:spcAft>
                <a:spcPts val="700"/>
              </a:spcAft>
            </a:pPr>
            <a:r>
              <a:rPr sz="1200" b="0" i="0">
                <a:solidFill>
                  <a:srgbClr val="B9AFA3"/>
                </a:solidFill>
                <a:latin typeface="Arial"/>
              </a:rPr>
              <a:t>     high reach via creator roundups &amp; before/after.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7A7066"/>
                </a:solidFill>
                <a:latin typeface="Arial"/>
              </a:rPr>
              <a:t>Formats &amp; peer-content evidence: competitive brief §3 (neurolaunch.com; SocialPilot 2026; Structured/Finch case reads).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5C4D"/>
                </a:solidFill>
                <a:latin typeface="Arial"/>
              </a:rPr>
              <a:t>APP STORE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100" b="1" i="0">
                <a:solidFill>
                  <a:srgbClr val="141210"/>
                </a:solidFill>
                <a:latin typeface="Arial"/>
              </a:rPr>
              <a:t>Own one term. Fight on three. Seed the rest.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828800"/>
            <a:ext cx="11073384" cy="1298448"/>
          </a:xfrm>
          <a:prstGeom prst="roundRect">
            <a:avLst>
              <a:gd name="adj" fmla="val 8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2103120" cy="1298448"/>
          </a:xfrm>
          <a:prstGeom prst="roundRect">
            <a:avLst>
              <a:gd name="adj" fmla="val 8000"/>
            </a:avLst>
          </a:prstGeom>
          <a:solidFill>
            <a:srgbClr val="FF5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828800"/>
            <a:ext cx="2103120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OWN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011680"/>
            <a:ext cx="8595360" cy="9875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 i="0">
                <a:solidFill>
                  <a:srgbClr val="141210"/>
                </a:solidFill>
                <a:latin typeface="Arial"/>
              </a:rPr>
              <a:t>“decision paralysis app”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3A3530"/>
                </a:solidFill>
                <a:latin typeface="Arial"/>
              </a:rPr>
              <a:t>High intent, on-mechanic, rarely branded around. Our strongest niche term — anchor the subtitle 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291839"/>
            <a:ext cx="11073384" cy="1298448"/>
          </a:xfrm>
          <a:prstGeom prst="roundRect">
            <a:avLst>
              <a:gd name="adj" fmla="val 8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3291839"/>
            <a:ext cx="2103120" cy="1298448"/>
          </a:xfrm>
          <a:prstGeom prst="roundRect">
            <a:avLst>
              <a:gd name="adj" fmla="val 8000"/>
            </a:avLst>
          </a:prstGeom>
          <a:solidFill>
            <a:srgbClr val="141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291839"/>
            <a:ext cx="2103120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FIGHT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474720"/>
            <a:ext cx="8595360" cy="9875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 i="0">
                <a:solidFill>
                  <a:srgbClr val="141210"/>
                </a:solidFill>
                <a:latin typeface="Arial"/>
              </a:rPr>
              <a:t>“ADHD to-do” · “ADHD planner” · “ADHD focus timer”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3A3530"/>
                </a:solidFill>
                <a:latin typeface="Arial"/>
              </a:rPr>
              <a:t>The battleground: high volume, high competition. Use for paid + long-tail (‘Pomodoro for ADHD’).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754879"/>
            <a:ext cx="11073384" cy="1298448"/>
          </a:xfrm>
          <a:prstGeom prst="roundRect">
            <a:avLst>
              <a:gd name="adj" fmla="val 8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4754879"/>
            <a:ext cx="2103120" cy="1298448"/>
          </a:xfrm>
          <a:prstGeom prst="roundRect">
            <a:avLst>
              <a:gd name="adj" fmla="val 8000"/>
            </a:avLst>
          </a:prstGeom>
          <a:solidFill>
            <a:srgbClr val="2BB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4754879"/>
            <a:ext cx="2103120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SEED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937759"/>
            <a:ext cx="8595360" cy="9875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 i="0">
                <a:solidFill>
                  <a:srgbClr val="141210"/>
                </a:solidFill>
                <a:latin typeface="Arial"/>
              </a:rPr>
              <a:t>“gentle productivity” · “task roulette” · “Pomodoro wheel”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3A3530"/>
                </a:solidFill>
                <a:latin typeface="Arial"/>
              </a:rPr>
              <a:t>Low store volume, high SEO/PR &amp; differentiation value. Nearly unclaimed — grab for content + defense.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19088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7A7066"/>
                </a:solidFill>
                <a:latin typeface="Arial"/>
              </a:rPr>
              <a:t>Volume/competition reads are inferred from market structure — exact figures are paywalled in ASO tools.  competitive brief §4.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5C4D"/>
                </a:solidFill>
                <a:latin typeface="Arial"/>
              </a:rPr>
              <a:t>THE HONEST TRUTH &amp; THE BIG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100" b="1" i="0">
                <a:solidFill>
                  <a:srgbClr val="141210"/>
                </a:solidFill>
                <a:latin typeface="Arial"/>
              </a:rPr>
              <a:t>Budget for paid. Watch retention, not spins.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828800"/>
            <a:ext cx="5486400" cy="4160520"/>
          </a:xfrm>
          <a:prstGeom prst="roundRect">
            <a:avLst>
              <a:gd name="adj" fmla="val 8000"/>
            </a:avLst>
          </a:prstGeom>
          <a:solidFill>
            <a:srgbClr val="141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49377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1" i="0">
                <a:solidFill>
                  <a:srgbClr val="FF5C4D"/>
                </a:solidFill>
                <a:latin typeface="Arial"/>
              </a:rPr>
              <a:t>The paid truth</a:t>
            </a:r>
          </a:p>
          <a:p>
            <a:pPr algn="l">
              <a:lnSpc>
                <a:spcPct val="126000"/>
              </a:lnSpc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Finch hit ~$30M ARR with zero VC — and even that ‘organic-looking’ growth is </a:t>
            </a:r>
            <a:r>
              <a:rPr sz="1400" b="1" i="0">
                <a:solidFill>
                  <a:srgbClr val="FF5C4D"/>
                </a:solidFill>
                <a:latin typeface="Arial"/>
              </a:rPr>
              <a:t>paid-driven.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350" b="0" i="0">
                <a:solidFill>
                  <a:srgbClr val="ECE9E3"/>
                </a:solidFill>
                <a:latin typeface="Arial"/>
              </a:rPr>
              <a:t>Plan: budget paid TikTok / Meta from day one. Don't assume free virality. Community (Reddit / Discord) + paid amplification is the proven combo.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828800"/>
            <a:ext cx="5440680" cy="4160520"/>
          </a:xfrm>
          <a:prstGeom prst="roundRect">
            <a:avLst>
              <a:gd name="adj" fmla="val 8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2103120"/>
            <a:ext cx="49377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1" i="0">
                <a:solidFill>
                  <a:srgbClr val="D84235"/>
                </a:solidFill>
                <a:latin typeface="Arial"/>
              </a:rPr>
              <a:t>⚠  Riskiest assumption</a:t>
            </a:r>
          </a:p>
          <a:p>
            <a:pPr algn="l">
              <a:lnSpc>
                <a:spcPct val="124000"/>
              </a:lnSpc>
              <a:spcAft>
                <a:spcPts val="800"/>
              </a:spcAft>
            </a:pPr>
            <a:r>
              <a:rPr sz="1400" b="1" i="0">
                <a:solidFill>
                  <a:srgbClr val="141210"/>
                </a:solidFill>
                <a:latin typeface="Arial"/>
              </a:rPr>
              <a:t>That the wheel is a durable retention mechanic and not a one-week novelty.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 i="0">
                <a:solidFill>
                  <a:srgbClr val="D84235"/>
                </a:solidFill>
                <a:latin typeface="Arial"/>
              </a:rPr>
              <a:t>Mitigation: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 i="0">
                <a:solidFill>
                  <a:srgbClr val="FF5C4D"/>
                </a:solidFill>
                <a:latin typeface="Arial"/>
              </a:rPr>
              <a:t>•  </a:t>
            </a:r>
            <a:r>
              <a:rPr sz="1300" b="0" i="0">
                <a:solidFill>
                  <a:srgbClr val="3A3530"/>
                </a:solidFill>
                <a:latin typeface="Arial"/>
              </a:rPr>
              <a:t>Make Rest Mode + streak — not the wheel — the retention spine.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 i="0">
                <a:solidFill>
                  <a:srgbClr val="FF5C4D"/>
                </a:solidFill>
                <a:latin typeface="Arial"/>
              </a:rPr>
              <a:t>•  </a:t>
            </a:r>
            <a:r>
              <a:rPr sz="1300" b="0" i="0">
                <a:solidFill>
                  <a:srgbClr val="3A3530"/>
                </a:solidFill>
                <a:latin typeface="Arial"/>
              </a:rPr>
              <a:t>Instrument week-1 → week-4 spin frequency and rest-day usage.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 i="0">
                <a:solidFill>
                  <a:srgbClr val="FF5C4D"/>
                </a:solidFill>
                <a:latin typeface="Arial"/>
              </a:rPr>
              <a:t>•  </a:t>
            </a:r>
            <a:r>
              <a:rPr sz="1300" b="0" i="0">
                <a:solidFill>
                  <a:srgbClr val="3A3530"/>
                </a:solidFill>
                <a:latin typeface="Arial"/>
              </a:rPr>
              <a:t>That signal is the primary beta success metric.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7A7066"/>
                </a:solidFill>
                <a:latin typeface="Arial"/>
              </a:rPr>
              <a:t>Finch growth model: blog.sparrowapps.io, 2025.  Risk analysis: competitive brief §5.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4480560"/>
            <a:ext cx="4937760" cy="4937760"/>
          </a:xfrm>
          <a:prstGeom prst="ellipse">
            <a:avLst/>
          </a:prstGeom>
          <a:solidFill>
            <a:srgbClr val="D84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38360" y="457200"/>
            <a:ext cx="2194560" cy="2194560"/>
          </a:xfrm>
          <a:prstGeom prst="ellipse">
            <a:avLst/>
          </a:prstGeom>
          <a:solidFill>
            <a:srgbClr val="FF5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96728" y="1115568"/>
            <a:ext cx="877824" cy="8778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5C4D"/>
                </a:solidFill>
                <a:latin typeface="Arial"/>
              </a:rPr>
              <a:t>ROADMAP &amp; 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7863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Ship the beta. Run the 30 days.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FF5C4D"/>
                </a:solidFill>
                <a:latin typeface="Arial"/>
              </a:rPr>
              <a:t>Watch the rest-streak signal.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971800"/>
            <a:ext cx="6400800" cy="1828800"/>
          </a:xfrm>
          <a:prstGeom prst="roundRect">
            <a:avLst>
              <a:gd name="adj" fmla="val 8000"/>
            </a:avLst>
          </a:prstGeom>
          <a:solidFill>
            <a:srgbClr val="3A3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5943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50" b="1" i="0">
                <a:solidFill>
                  <a:srgbClr val="FF5C4D"/>
                </a:solidFill>
                <a:latin typeface="Arial"/>
              </a:rPr>
              <a:t>Next: the body-double companion  🌧️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 i="0">
                <a:solidFill>
                  <a:srgbClr val="ECE9E3"/>
                </a:solidFill>
                <a:latin typeface="Arial"/>
              </a:rPr>
              <a:t>A cozy lofi ‘study-with-me’ character (time-of-day × weather) living inside your tasks. Validated by gogh &amp; Spirit City — but </a:t>
            </a:r>
            <a:r>
              <a:rPr sz="1250" b="1" i="0">
                <a:solidFill>
                  <a:srgbClr val="FFFFFF"/>
                </a:solidFill>
                <a:latin typeface="Arial"/>
              </a:rPr>
              <a:t>roadmap, not shipped.</a:t>
            </a:r>
            <a:r>
              <a:rPr sz="1250" b="0" i="0">
                <a:solidFill>
                  <a:srgbClr val="ECE9E3"/>
                </a:solidFill>
                <a:latin typeface="Arial"/>
              </a:rPr>
              <a:t> Tease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971800"/>
            <a:ext cx="40233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FF5C4D"/>
                </a:solidFill>
                <a:latin typeface="Arial"/>
              </a:rPr>
              <a:t>The three deliverables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1" i="0">
                <a:solidFill>
                  <a:srgbClr val="2BB6A3"/>
                </a:solidFill>
                <a:latin typeface="Arial"/>
              </a:rPr>
              <a:t>✓  </a:t>
            </a:r>
            <a:r>
              <a:rPr sz="1350" b="0" i="0">
                <a:solidFill>
                  <a:srgbClr val="FFFFFF"/>
                </a:solidFill>
                <a:latin typeface="Arial"/>
              </a:rPr>
              <a:t>Competitive brief (cited)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1" i="0">
                <a:solidFill>
                  <a:srgbClr val="2BB6A3"/>
                </a:solidFill>
                <a:latin typeface="Arial"/>
              </a:rPr>
              <a:t>✓  </a:t>
            </a:r>
            <a:r>
              <a:rPr sz="1350" b="0" i="0">
                <a:solidFill>
                  <a:srgbClr val="FFFFFF"/>
                </a:solidFill>
                <a:latin typeface="Arial"/>
              </a:rPr>
              <a:t>30-day content calendar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1" i="0">
                <a:solidFill>
                  <a:srgbClr val="2BB6A3"/>
                </a:solidFill>
                <a:latin typeface="Arial"/>
              </a:rPr>
              <a:t>✓  </a:t>
            </a:r>
            <a:r>
              <a:rPr sz="1350" b="0" i="0">
                <a:solidFill>
                  <a:srgbClr val="FFFFFF"/>
                </a:solidFill>
                <a:latin typeface="Arial"/>
              </a:rPr>
              <a:t>This positioning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663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FF5C4D"/>
                </a:solidFill>
                <a:latin typeface="Arial"/>
              </a:rPr>
              <a:t>Primary success metric:  </a:t>
            </a:r>
            <a:r>
              <a:rPr sz="1400" b="1" i="0">
                <a:solidFill>
                  <a:srgbClr val="FFFFFF"/>
                </a:solidFill>
                <a:latin typeface="Arial"/>
              </a:rPr>
              <a:t>week-1 → week-4 retention, led by rest-day usage — not spin count.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19088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B9AFA3"/>
                </a:solidFill>
                <a:latin typeface="Arial"/>
              </a:rPr>
              <a:t>Body-double benchmarks: gogh, Spirit City (Steam, 2026).  All claims sourced in 2026-06-23-competitive-brief.md.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